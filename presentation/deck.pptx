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2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4791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교육과정 최종 프로젝트 · 발표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7512" y="146304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00" dirty="0">
                <a:solidFill>
                  <a:srgbClr val="1A1A1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반도체 장비</a:t>
            </a:r>
            <a:endParaRPr lang="en-US" sz="46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4600" dirty="0">
                <a:solidFill>
                  <a:srgbClr val="1A1A1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센서 제어 시스템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85800" y="33375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TwinCAT ADS 실시간 센서 감시 · AI 위험 규칙,</a:t>
            </a:r>
            <a:endParaRPr lang="en-US" sz="15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자동 대응 · 이력 관리 · 접근 통제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" y="422452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42245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4C8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WPF · .NET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67712" y="4224528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2267712" y="422452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4C8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TwinCAT ADS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32504" y="422452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/>
          <p:nvPr/>
        </p:nvSpPr>
        <p:spPr>
          <a:xfrm>
            <a:off x="4032504" y="422452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4C8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SQLite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57216" y="4224528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5157216" y="42245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4C8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Flask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5074920"/>
            <a:ext cx="521208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212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5440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김길동, 박재민, 최현규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5212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발표자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17520" y="5440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김길동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5212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발표 일자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5440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2026. 06. 18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1188720"/>
            <a:ext cx="5349240" cy="342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143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0" descr="../스크린샷 2026-06-11 0917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395" y="1287475"/>
            <a:ext cx="5151730" cy="322615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323076" y="4776976"/>
            <a:ext cx="5289804" cy="5669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4" name="Shape 21"/>
          <p:cNvSpPr/>
          <p:nvPr/>
        </p:nvSpPr>
        <p:spPr>
          <a:xfrm>
            <a:off x="6263640" y="4776976"/>
            <a:ext cx="64008" cy="566928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5" name="Text 22"/>
          <p:cNvSpPr/>
          <p:nvPr/>
        </p:nvSpPr>
        <p:spPr>
          <a:xfrm>
            <a:off x="6622999" y="477697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정상 </a:t>
            </a:r>
            <a:r>
              <a:rPr lang="en-US" sz="1300" dirty="0" err="1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운전</a:t>
            </a:r>
            <a:r>
              <a:rPr lang="en-US" sz="13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</a:t>
            </a:r>
            <a:r>
              <a:rPr lang="en-US" sz="1300" dirty="0" err="1" smtClean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</a:t>
            </a:r>
            <a:r>
              <a:rPr lang="en-US" sz="1300" dirty="0" smtClean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 </a:t>
            </a:r>
            <a:r>
              <a:rPr lang="en-US" sz="13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모든 센서 정상 · AI 감시 중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AGENDA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95681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55FB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993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377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무엇을·왜, 한눈에 보기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195681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55FB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223760" y="1993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 정의 &amp; 배경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23760" y="2377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필요성과 요구사항 도출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28269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55FB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54480" y="33192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설계 의사결정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703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 · 기술 선택 근거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328269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55FB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223760" y="33192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기능 구현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23760" y="3703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· 위험 · 제어 · 인증 · 데이터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460857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55FB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4645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 &amp; 데모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5029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실행 화면 워크스루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460857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55FB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223760" y="4645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회고 &amp; 향후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5029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트러블슈팅 · 개선 방향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1 · 도입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한눈에 보기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실 장비 없이 반도체 장비 센서 감시·제어를 학습하는,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Windows WPF 데스크톱 트레이너입니다.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11226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실시간 센서 감시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압력·진동·온도·습도를 약 1Hz로 폴링·표시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990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90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95351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하드웨어 연동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26440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TwinCAT ADS로 아날로그/디지털 I/O·램프 제어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8313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831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7947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위험 자동 대응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10565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임계값 평가 → 누적 → 자동 종료 + 경고 램프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672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672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63600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 · 연동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494690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SQLite 영속화 + Flask 인증·텔레메트리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244998" y="897941"/>
            <a:ext cx="6366967" cy="4060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143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Image 0" descr="../스크린샷 2026-06-11 0917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754" y="996696"/>
            <a:ext cx="6169457" cy="3863482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304434" y="5118811"/>
            <a:ext cx="6307531" cy="5669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Shape 22"/>
          <p:cNvSpPr/>
          <p:nvPr/>
        </p:nvSpPr>
        <p:spPr>
          <a:xfrm>
            <a:off x="5244998" y="5118811"/>
            <a:ext cx="64008" cy="566928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6" name="Text 23"/>
          <p:cNvSpPr/>
          <p:nvPr/>
        </p:nvSpPr>
        <p:spPr>
          <a:xfrm>
            <a:off x="5604358" y="5118811"/>
            <a:ext cx="5864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정상 운전</a:t>
            </a:r>
            <a:r>
              <a:rPr lang="en-US" sz="13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,  모든 센서 정상 · AI 감시 중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2 · 문제 정의 &amp; 배경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센서 트레이너가 필요한가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장비는 압력·진동·온도·습도 등 여러 센서로 상태를 감시하지만,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교육 현장에서 이를 실장비로 직접 다뤄 보기에는 현실적인 제약이 많습니다.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3383280" cy="2057400"/>
          </a:xfrm>
          <a:prstGeom prst="rect">
            <a:avLst/>
          </a:prstGeom>
          <a:solidFill>
            <a:srgbClr val="F4F6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331720"/>
            <a:ext cx="73152" cy="2057400"/>
          </a:xfrm>
          <a:prstGeom prst="rect">
            <a:avLst/>
          </a:prstGeom>
          <a:solidFill>
            <a:srgbClr val="E5A400"/>
          </a:solidFill>
          <a:ln/>
        </p:spPr>
      </p:sp>
      <p:sp>
        <p:nvSpPr>
          <p:cNvPr id="8" name="Text 6"/>
          <p:cNvSpPr/>
          <p:nvPr/>
        </p:nvSpPr>
        <p:spPr>
          <a:xfrm>
            <a:off x="996696" y="2606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E5A4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제약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96696" y="28803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고가 · 제한된 접근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6696" y="3282696"/>
            <a:ext cx="2816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장비는 비싸고, </a:t>
            </a:r>
            <a:endParaRPr lang="en-US" sz="1250" dirty="0" smtClean="0">
              <a:solidFill>
                <a:srgbClr val="6B728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 err="1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교육용으로</a:t>
            </a:r>
            <a:r>
              <a:rPr lang="en-US" sz="1250" dirty="0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상시 </a:t>
            </a: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운용하며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50" dirty="0" smtClean="0">
              <a:solidFill>
                <a:srgbClr val="6B728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 err="1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학습자가</a:t>
            </a:r>
            <a:r>
              <a:rPr lang="en-US" sz="1250" dirty="0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자유롭게 조작하기 어렵습니다.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9412" y="2331720"/>
            <a:ext cx="3383280" cy="2057400"/>
          </a:xfrm>
          <a:prstGeom prst="rect">
            <a:avLst/>
          </a:prstGeom>
          <a:solidFill>
            <a:srgbClr val="F4F6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9412" y="2331720"/>
            <a:ext cx="73152" cy="2057400"/>
          </a:xfrm>
          <a:prstGeom prst="rect">
            <a:avLst/>
          </a:prstGeom>
          <a:solidFill>
            <a:srgbClr val="E5A40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0308" y="2606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E5A4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제약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0308" y="28803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위험 상황 재현 곤란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0308" y="3282696"/>
            <a:ext cx="2816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임계 초과나 자동 정지 </a:t>
            </a: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dirty="0" err="1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</a:t>
            </a: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·위험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상황을 교육을 </a:t>
            </a: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위해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dirty="0" err="1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일부러</a:t>
            </a:r>
            <a:r>
              <a:rPr lang="en-US" sz="1250" dirty="0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만들어 보기 어렵습니다.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93024" y="2331720"/>
            <a:ext cx="3383280" cy="2057400"/>
          </a:xfrm>
          <a:prstGeom prst="rect">
            <a:avLst/>
          </a:prstGeom>
          <a:solidFill>
            <a:srgbClr val="F4F6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93024" y="2331720"/>
            <a:ext cx="73152" cy="2057400"/>
          </a:xfrm>
          <a:prstGeom prst="rect">
            <a:avLst/>
          </a:prstGeom>
          <a:solidFill>
            <a:srgbClr val="E5A400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606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E5A4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제약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03920" y="28803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반복 실습의 한계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3920" y="3282696"/>
            <a:ext cx="2816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안전과 비용 </a:t>
            </a: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문제로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50" dirty="0">
              <a:solidFill>
                <a:srgbClr val="6B728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 err="1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시행착오를</a:t>
            </a:r>
            <a:r>
              <a:rPr lang="en-US" sz="1250" dirty="0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반복하는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dirty="0" err="1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실습이</a:t>
            </a:r>
            <a:r>
              <a:rPr lang="en-US" sz="1250" dirty="0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제한되어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50" dirty="0" smtClean="0">
              <a:solidFill>
                <a:srgbClr val="6B728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 err="1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체득이</a:t>
            </a:r>
            <a:r>
              <a:rPr lang="en-US" sz="1250" dirty="0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더딥니다.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4892040"/>
            <a:ext cx="10927080" cy="9144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4892040"/>
            <a:ext cx="73152" cy="9144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" y="48920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E9E6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해결  </a:t>
            </a: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실장비 없이 센서 감시와 위험 대응을 </a:t>
            </a:r>
            <a:r>
              <a:rPr lang="en-US" sz="1600" dirty="0">
                <a:solidFill>
                  <a:srgbClr val="1A1A1A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반복 학습</a:t>
            </a: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할 수 있는 Windows 데스크톱 트레이너를 만든다.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2 · 문제 정의 &amp; 배경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 정의와 4대 목표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트레이너가 반드시 해결해야 할 과제를 네 가지 목표로 정의했습니다.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5276088" cy="1691640"/>
          </a:xfrm>
          <a:prstGeom prst="rect">
            <a:avLst/>
          </a:prstGeom>
          <a:solidFill>
            <a:srgbClr val="F4F6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148840"/>
            <a:ext cx="73152" cy="169164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8" name="Text 6"/>
          <p:cNvSpPr/>
          <p:nvPr/>
        </p:nvSpPr>
        <p:spPr>
          <a:xfrm>
            <a:off x="996696" y="2423160"/>
            <a:ext cx="4727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목표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96696" y="2697480"/>
            <a:ext cx="4727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실시간 센서 감시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6696" y="3099816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압력·진동·온도·습도를 약 1Hz로 폴링해 현재 값과 상태를 즉시 보여 준다.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36792" y="2148840"/>
            <a:ext cx="5276088" cy="1691640"/>
          </a:xfrm>
          <a:prstGeom prst="rect">
            <a:avLst/>
          </a:prstGeom>
          <a:solidFill>
            <a:srgbClr val="F4F6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36792" y="2148840"/>
            <a:ext cx="73152" cy="169164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3" name="Text 11"/>
          <p:cNvSpPr/>
          <p:nvPr/>
        </p:nvSpPr>
        <p:spPr>
          <a:xfrm>
            <a:off x="6647688" y="2423160"/>
            <a:ext cx="4727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D6454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목표 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47688" y="2697480"/>
            <a:ext cx="4727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위험 자동 대응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47688" y="3099816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임계값을 평가해 위험을 누적하고, 한도 도달 시 공정을 자동으로 종료한다.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151376"/>
            <a:ext cx="5276088" cy="1691640"/>
          </a:xfrm>
          <a:prstGeom prst="rect">
            <a:avLst/>
          </a:prstGeom>
          <a:solidFill>
            <a:srgbClr val="F4F6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4151376"/>
            <a:ext cx="73152" cy="16916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8" name="Text 16"/>
          <p:cNvSpPr/>
          <p:nvPr/>
        </p:nvSpPr>
        <p:spPr>
          <a:xfrm>
            <a:off x="996696" y="4425696"/>
            <a:ext cx="4727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2E9E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목표 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96696" y="4700016"/>
            <a:ext cx="4727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이력 관리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6696" y="510235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스냅샷과 활동 로그를 영속화하고, 화면에서 조회·추적할 수 있게 한다.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36792" y="4151376"/>
            <a:ext cx="5276088" cy="1691640"/>
          </a:xfrm>
          <a:prstGeom prst="rect">
            <a:avLst/>
          </a:prstGeom>
          <a:solidFill>
            <a:srgbClr val="F4F6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36792" y="4151376"/>
            <a:ext cx="73152" cy="1691640"/>
          </a:xfrm>
          <a:prstGeom prst="rect">
            <a:avLst/>
          </a:prstGeom>
          <a:solidFill>
            <a:srgbClr val="E5A400"/>
          </a:solidFill>
          <a:ln/>
        </p:spPr>
      </p:sp>
      <p:sp>
        <p:nvSpPr>
          <p:cNvPr id="23" name="Text 21"/>
          <p:cNvSpPr/>
          <p:nvPr/>
        </p:nvSpPr>
        <p:spPr>
          <a:xfrm>
            <a:off x="6647688" y="4425696"/>
            <a:ext cx="4727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E5A4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목표 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47688" y="4700016"/>
            <a:ext cx="4727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접근 통제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47688" y="510235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인증과 권한(Operator·Admin)으로 민감한 조작과 설정을 보호한다.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2 · 문제 정의 &amp; 배경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요구사항 정의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목표를 기능 요구와 비기능 요구로 구체화했습니다.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527608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057400"/>
            <a:ext cx="5276088" cy="566928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8" name="Text 6"/>
          <p:cNvSpPr/>
          <p:nvPr/>
        </p:nvSpPr>
        <p:spPr>
          <a:xfrm>
            <a:off x="996696" y="2057400"/>
            <a:ext cx="4818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기능 요구사항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96696" y="2990088"/>
            <a:ext cx="118872" cy="118872"/>
          </a:xfrm>
          <a:prstGeom prst="ellipse">
            <a:avLst/>
          </a:prstGeom>
          <a:solidFill>
            <a:srgbClr val="155FB0"/>
          </a:solidFill>
          <a:ln/>
        </p:spPr>
      </p:sp>
      <p:sp>
        <p:nvSpPr>
          <p:cNvPr id="10" name="Text 8"/>
          <p:cNvSpPr/>
          <p:nvPr/>
        </p:nvSpPr>
        <p:spPr>
          <a:xfrm>
            <a:off x="1252728" y="28895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센서 실시간 감시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값·상태 표시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96696" y="3575304"/>
            <a:ext cx="118872" cy="118872"/>
          </a:xfrm>
          <a:prstGeom prst="ellipse">
            <a:avLst/>
          </a:prstGeom>
          <a:solidFill>
            <a:srgbClr val="155FB0"/>
          </a:solidFill>
          <a:ln/>
        </p:spPr>
      </p:sp>
      <p:sp>
        <p:nvSpPr>
          <p:cNvPr id="12" name="Text 10"/>
          <p:cNvSpPr/>
          <p:nvPr/>
        </p:nvSpPr>
        <p:spPr>
          <a:xfrm>
            <a:off x="1252728" y="34747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위험 평가 · 자동 종료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임계 초과 누적 대응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96696" y="4160520"/>
            <a:ext cx="118872" cy="118872"/>
          </a:xfrm>
          <a:prstGeom prst="ellipse">
            <a:avLst/>
          </a:prstGeom>
          <a:solidFill>
            <a:srgbClr val="155FB0"/>
          </a:solidFill>
          <a:ln/>
        </p:spPr>
      </p:sp>
      <p:sp>
        <p:nvSpPr>
          <p:cNvPr id="14" name="Text 12"/>
          <p:cNvSpPr/>
          <p:nvPr/>
        </p:nvSpPr>
        <p:spPr>
          <a:xfrm>
            <a:off x="125272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램프 · 공정 제어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가동/경고/AI 램프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96696" y="4745736"/>
            <a:ext cx="118872" cy="118872"/>
          </a:xfrm>
          <a:prstGeom prst="ellipse">
            <a:avLst/>
          </a:prstGeom>
          <a:solidFill>
            <a:srgbClr val="155FB0"/>
          </a:solidFill>
          <a:ln/>
        </p:spPr>
      </p:sp>
      <p:sp>
        <p:nvSpPr>
          <p:cNvPr id="16" name="Text 14"/>
          <p:cNvSpPr/>
          <p:nvPr/>
        </p:nvSpPr>
        <p:spPr>
          <a:xfrm>
            <a:off x="1252728" y="46451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사용자 인증 · 권한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Operator · Admin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96696" y="5330952"/>
            <a:ext cx="118872" cy="118872"/>
          </a:xfrm>
          <a:prstGeom prst="ellipse">
            <a:avLst/>
          </a:prstGeom>
          <a:solidFill>
            <a:srgbClr val="155FB0"/>
          </a:solidFill>
          <a:ln/>
        </p:spPr>
      </p:sp>
      <p:sp>
        <p:nvSpPr>
          <p:cNvPr id="18" name="Text 16"/>
          <p:cNvSpPr/>
          <p:nvPr/>
        </p:nvSpPr>
        <p:spPr>
          <a:xfrm>
            <a:off x="1252728" y="52303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활동 · 센서 로그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기록 · 조회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057400"/>
            <a:ext cx="527608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36792" y="2057400"/>
            <a:ext cx="5276088" cy="566928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1" name="Text 19"/>
          <p:cNvSpPr/>
          <p:nvPr/>
        </p:nvSpPr>
        <p:spPr>
          <a:xfrm>
            <a:off x="6647688" y="2057400"/>
            <a:ext cx="4818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비기능 요구사항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47688" y="2990088"/>
            <a:ext cx="118872" cy="118872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28895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실시간성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약 1Hz 폴링 · 즉시 반영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47688" y="3575304"/>
            <a:ext cx="118872" cy="118872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34747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UI 비차단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네트워크 · 폴링이 화면을 막지 않음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47688" y="4160520"/>
            <a:ext cx="118872" cy="118872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안정성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예외 격리 · 통신 끊김 허용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47688" y="4745736"/>
            <a:ext cx="118872" cy="118872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46451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디자이너 미리보기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하드웨어 없이 스텁으로 렌더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647688" y="5330952"/>
            <a:ext cx="118872" cy="118872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52303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확장성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인터페이스 우선 설계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3 · 설계 의사결정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 스택 &amp; 선택 근거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사용자에 가까운 표현 계층부터 외부 연동까지, 계층별로 기술을 선택한 이유입니다.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10927080" cy="914400"/>
          </a:xfrm>
          <a:prstGeom prst="rect">
            <a:avLst/>
          </a:prstGeom>
          <a:solidFill>
            <a:srgbClr val="F4F6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874520"/>
            <a:ext cx="73152" cy="9144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8" name="Text 6"/>
          <p:cNvSpPr/>
          <p:nvPr/>
        </p:nvSpPr>
        <p:spPr>
          <a:xfrm>
            <a:off x="996696" y="20482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표현 · UI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96696" y="22860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WPF · .NET Framework 4.7.2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57800" y="2057400"/>
            <a:ext cx="0" cy="54864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50408" y="18745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데스크톱 네이티브 UI와 강력한 데이터바인딩으로 실시간 상태 표시에 적합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935224"/>
            <a:ext cx="10927080" cy="914400"/>
          </a:xfrm>
          <a:prstGeom prst="rect">
            <a:avLst/>
          </a:prstGeom>
          <a:solidFill>
            <a:srgbClr val="F4F6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935224"/>
            <a:ext cx="73152" cy="9144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14" name="Text 12"/>
          <p:cNvSpPr/>
          <p:nvPr/>
        </p:nvSpPr>
        <p:spPr>
          <a:xfrm>
            <a:off x="996696" y="31089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패턴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96696" y="334670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MVVM · 프레임워크 없이 직접 구현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57800" y="3118104"/>
            <a:ext cx="0" cy="54864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50408" y="2935224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ViewModelBase·RelayCommand로 의존성 흐름을 명시적으로 관리, 외부 종속 최소화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995928"/>
            <a:ext cx="10927080" cy="914400"/>
          </a:xfrm>
          <a:prstGeom prst="rect">
            <a:avLst/>
          </a:prstGeom>
          <a:solidFill>
            <a:srgbClr val="F4F6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3995928"/>
            <a:ext cx="73152" cy="9144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20" name="Text 18"/>
          <p:cNvSpPr/>
          <p:nvPr/>
        </p:nvSpPr>
        <p:spPr>
          <a:xfrm>
            <a:off x="996696" y="416966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서비스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96696" y="44074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인터페이스 우선 서비스 계층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257800" y="4178808"/>
            <a:ext cx="0" cy="54864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0408" y="3995928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ITrainerClient 등 추상화로 하드웨어 없이 스텁·디자이너 미리보기·교체가 가능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5056632"/>
            <a:ext cx="10927080" cy="914400"/>
          </a:xfrm>
          <a:prstGeom prst="rect">
            <a:avLst/>
          </a:prstGeom>
          <a:solidFill>
            <a:srgbClr val="F4F6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5056632"/>
            <a:ext cx="73152" cy="914400"/>
          </a:xfrm>
          <a:prstGeom prst="rect">
            <a:avLst/>
          </a:prstGeom>
          <a:solidFill>
            <a:srgbClr val="0F4C8C"/>
          </a:solidFill>
          <a:ln/>
        </p:spPr>
      </p:sp>
      <p:sp>
        <p:nvSpPr>
          <p:cNvPr id="26" name="Text 24"/>
          <p:cNvSpPr/>
          <p:nvPr/>
        </p:nvSpPr>
        <p:spPr>
          <a:xfrm>
            <a:off x="996696" y="52303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0F4C8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외부 연동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96696" y="5477256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6696" y="54772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4C8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TwinCAT ADS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587752" y="5477256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87752" y="547725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4C8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SQLite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675888" y="5477256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75888" y="547725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4C8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Flask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257800" y="5239512"/>
            <a:ext cx="0" cy="54864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0408" y="5056632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트레이너 통신 · 로컬 영속화 · 인증/텔레메트리를 가벼운 표준 기술로 분리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3 · 설계 의사결정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시스템 아키텍처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MVVM 4계층으로 책임을 분리하고, 합성 루트(MainViewModel)가 전체 객체 그래프를 직접 구성합니다.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377440" cy="3154680"/>
          </a:xfrm>
          <a:prstGeom prst="rect">
            <a:avLst/>
          </a:prstGeom>
          <a:solidFill>
            <a:srgbClr val="FBFCFD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965960"/>
            <a:ext cx="2377440" cy="475488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96596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Views · XAML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32104" y="2587752"/>
            <a:ext cx="2084832" cy="500634"/>
          </a:xfrm>
          <a:prstGeom prst="roundRect">
            <a:avLst>
              <a:gd name="adj" fmla="val 913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2587752"/>
            <a:ext cx="2084832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ConsoleView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2104" y="3216402"/>
            <a:ext cx="2084832" cy="500634"/>
          </a:xfrm>
          <a:prstGeom prst="roundRect">
            <a:avLst>
              <a:gd name="adj" fmla="val 913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3216402"/>
            <a:ext cx="2084832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AuthView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2104" y="3845052"/>
            <a:ext cx="2084832" cy="500634"/>
          </a:xfrm>
          <a:prstGeom prst="roundRect">
            <a:avLst>
              <a:gd name="adj" fmla="val 913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" y="3845052"/>
            <a:ext cx="2084832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LogView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2104" y="4473702"/>
            <a:ext cx="2084832" cy="500634"/>
          </a:xfrm>
          <a:prstGeom prst="roundRect">
            <a:avLst>
              <a:gd name="adj" fmla="val 913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" y="4473702"/>
            <a:ext cx="2084832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SettingsView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20440" y="1965960"/>
            <a:ext cx="2377440" cy="3154680"/>
          </a:xfrm>
          <a:prstGeom prst="rect">
            <a:avLst/>
          </a:prstGeom>
          <a:solidFill>
            <a:srgbClr val="FBFCFD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20440" y="1965960"/>
            <a:ext cx="2377440" cy="475488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19" name="Text 17"/>
          <p:cNvSpPr/>
          <p:nvPr/>
        </p:nvSpPr>
        <p:spPr>
          <a:xfrm>
            <a:off x="3630168" y="196596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ViewModels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66744" y="2587752"/>
            <a:ext cx="2084832" cy="500634"/>
          </a:xfrm>
          <a:prstGeom prst="roundRect">
            <a:avLst>
              <a:gd name="adj" fmla="val 9132"/>
            </a:avLst>
          </a:prstGeom>
          <a:solidFill>
            <a:srgbClr val="FFFFFF"/>
          </a:solidFill>
          <a:ln w="19050">
            <a:solidFill>
              <a:srgbClr val="155F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66744" y="2587752"/>
            <a:ext cx="2084832" cy="260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ConsoleViewModel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66744" y="2838069"/>
            <a:ext cx="2084832" cy="250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폴링·위험·램프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66744" y="3216402"/>
            <a:ext cx="2084832" cy="500634"/>
          </a:xfrm>
          <a:prstGeom prst="roundRect">
            <a:avLst>
              <a:gd name="adj" fmla="val 913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66744" y="3216402"/>
            <a:ext cx="2084832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AuthViewModel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66744" y="3845052"/>
            <a:ext cx="2084832" cy="500634"/>
          </a:xfrm>
          <a:prstGeom prst="roundRect">
            <a:avLst>
              <a:gd name="adj" fmla="val 913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66744" y="3845052"/>
            <a:ext cx="2084832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LogViewModel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66744" y="4473702"/>
            <a:ext cx="2084832" cy="500634"/>
          </a:xfrm>
          <a:prstGeom prst="roundRect">
            <a:avLst>
              <a:gd name="adj" fmla="val 913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66744" y="4473702"/>
            <a:ext cx="2084832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SettingsViewModel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55080" y="1965960"/>
            <a:ext cx="2377440" cy="3154680"/>
          </a:xfrm>
          <a:prstGeom prst="rect">
            <a:avLst/>
          </a:prstGeom>
          <a:solidFill>
            <a:srgbClr val="FBFCFD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1965960"/>
            <a:ext cx="2377440" cy="475488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1" name="Text 29"/>
          <p:cNvSpPr/>
          <p:nvPr/>
        </p:nvSpPr>
        <p:spPr>
          <a:xfrm>
            <a:off x="6464808" y="196596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Services · 인터페이스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01384" y="2587752"/>
            <a:ext cx="2084832" cy="500634"/>
          </a:xfrm>
          <a:prstGeom prst="roundRect">
            <a:avLst>
              <a:gd name="adj" fmla="val 913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01384" y="2587752"/>
            <a:ext cx="2084832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ITrainerClient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501384" y="3216402"/>
            <a:ext cx="2084832" cy="500634"/>
          </a:xfrm>
          <a:prstGeom prst="roundRect">
            <a:avLst>
              <a:gd name="adj" fmla="val 913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01384" y="3216402"/>
            <a:ext cx="2084832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IAuthService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01384" y="3845052"/>
            <a:ext cx="2084832" cy="500634"/>
          </a:xfrm>
          <a:prstGeom prst="roundRect">
            <a:avLst>
              <a:gd name="adj" fmla="val 913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01384" y="3845052"/>
            <a:ext cx="2084832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IRemoteTelemetryService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501384" y="4473702"/>
            <a:ext cx="2084832" cy="500634"/>
          </a:xfrm>
          <a:prstGeom prst="roundRect">
            <a:avLst>
              <a:gd name="adj" fmla="val 913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01384" y="4473702"/>
            <a:ext cx="2084832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Store · Repository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189720" y="1965960"/>
            <a:ext cx="2377440" cy="3154680"/>
          </a:xfrm>
          <a:prstGeom prst="rect">
            <a:avLst/>
          </a:prstGeom>
          <a:solidFill>
            <a:srgbClr val="FBFCFD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189720" y="1965960"/>
            <a:ext cx="2377440" cy="475488"/>
          </a:xfrm>
          <a:prstGeom prst="rect">
            <a:avLst/>
          </a:prstGeom>
          <a:solidFill>
            <a:srgbClr val="586273"/>
          </a:solidFill>
          <a:ln/>
        </p:spPr>
      </p:sp>
      <p:sp>
        <p:nvSpPr>
          <p:cNvPr id="42" name="Text 40"/>
          <p:cNvSpPr/>
          <p:nvPr/>
        </p:nvSpPr>
        <p:spPr>
          <a:xfrm>
            <a:off x="9299448" y="196596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외부 시스템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336024" y="2587752"/>
            <a:ext cx="2084832" cy="710184"/>
          </a:xfrm>
          <a:prstGeom prst="roundRect">
            <a:avLst>
              <a:gd name="adj" fmla="val 643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36024" y="2587752"/>
            <a:ext cx="2084832" cy="369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TwinCAT ADS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336024" y="2942844"/>
            <a:ext cx="2084832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장비 I/O · 포트 851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336024" y="3425952"/>
            <a:ext cx="2084832" cy="710184"/>
          </a:xfrm>
          <a:prstGeom prst="roundRect">
            <a:avLst>
              <a:gd name="adj" fmla="val 643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36024" y="3425952"/>
            <a:ext cx="2084832" cy="369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SQLite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336024" y="3781044"/>
            <a:ext cx="2084832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DB · WAL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336024" y="4264152"/>
            <a:ext cx="2084832" cy="710184"/>
          </a:xfrm>
          <a:prstGeom prst="roundRect">
            <a:avLst>
              <a:gd name="adj" fmla="val 643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336024" y="4264152"/>
            <a:ext cx="2084832" cy="369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Flask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336024" y="4619244"/>
            <a:ext cx="2084832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· 텔레메트리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127248" y="3543300"/>
            <a:ext cx="329184" cy="0"/>
          </a:xfrm>
          <a:prstGeom prst="line">
            <a:avLst/>
          </a:prstGeom>
          <a:noFill/>
          <a:ln w="25400">
            <a:solidFill>
              <a:srgbClr val="0F4C8C"/>
            </a:solidFill>
            <a:prstDash val="solid"/>
            <a:headEnd type="triangle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2880360" y="31592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4C8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바인딩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961888" y="3543300"/>
            <a:ext cx="329184" cy="0"/>
          </a:xfrm>
          <a:prstGeom prst="line">
            <a:avLst/>
          </a:prstGeom>
          <a:noFill/>
          <a:ln w="25400">
            <a:solidFill>
              <a:srgbClr val="0F4C8C"/>
            </a:solidFill>
            <a:prstDash val="solid"/>
            <a:headEnd type="none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5715000" y="31592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4C8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호출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796528" y="3543300"/>
            <a:ext cx="329184" cy="0"/>
          </a:xfrm>
          <a:prstGeom prst="line">
            <a:avLst/>
          </a:prstGeom>
          <a:noFill/>
          <a:ln w="25400">
            <a:solidFill>
              <a:srgbClr val="0F4C8C"/>
            </a:solidFill>
            <a:prstDash val="solid"/>
            <a:headEnd type="none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8549640" y="31592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4C8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I/O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09160" y="5120640"/>
            <a:ext cx="0" cy="320040"/>
          </a:xfrm>
          <a:prstGeom prst="line">
            <a:avLst/>
          </a:prstGeom>
          <a:noFill/>
          <a:ln w="12700">
            <a:solidFill>
              <a:srgbClr val="9AA1AC"/>
            </a:solidFill>
            <a:prstDash val="dash"/>
            <a:headEnd type="triangle"/>
          </a:ln>
        </p:spPr>
      </p:sp>
      <p:sp>
        <p:nvSpPr>
          <p:cNvPr id="59" name="Shape 57"/>
          <p:cNvSpPr/>
          <p:nvPr/>
        </p:nvSpPr>
        <p:spPr>
          <a:xfrm>
            <a:off x="7543800" y="5120640"/>
            <a:ext cx="0" cy="320040"/>
          </a:xfrm>
          <a:prstGeom prst="line">
            <a:avLst/>
          </a:prstGeom>
          <a:noFill/>
          <a:ln w="12700">
            <a:solidFill>
              <a:srgbClr val="9AA1AC"/>
            </a:solidFill>
            <a:prstDash val="dash"/>
            <a:headEnd type="triangle"/>
          </a:ln>
        </p:spPr>
      </p:sp>
      <p:sp>
        <p:nvSpPr>
          <p:cNvPr id="60" name="Shape 58"/>
          <p:cNvSpPr/>
          <p:nvPr/>
        </p:nvSpPr>
        <p:spPr>
          <a:xfrm>
            <a:off x="685800" y="5440680"/>
            <a:ext cx="10881360" cy="74980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1" name="Shape 59"/>
          <p:cNvSpPr/>
          <p:nvPr/>
        </p:nvSpPr>
        <p:spPr>
          <a:xfrm>
            <a:off x="685800" y="5440680"/>
            <a:ext cx="73152" cy="749808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62" name="Text 60"/>
          <p:cNvSpPr/>
          <p:nvPr/>
        </p:nvSpPr>
        <p:spPr>
          <a:xfrm>
            <a:off x="1024128" y="544068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55FB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합성 루트   </a:t>
            </a:r>
            <a:r>
              <a:rPr lang="en-US" sz="12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MainViewModel</a:t>
            </a:r>
            <a:r>
              <a:rPr lang="en-US" sz="12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가  DatabaseService → Repository → Store → Service → 자식 VM 을 직접 구성·주입한다  (DI 컨테이너 없음)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3 · 설계 의사결정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설계 결정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세 가지 결정이 트레이너의 테스트 용이성·일관성을 만들었습니다.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847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설계 결정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0" y="1847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근거 · 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595360" y="1847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효과 · 결과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212848"/>
            <a:ext cx="10881360" cy="1243584"/>
          </a:xfrm>
          <a:prstGeom prst="rect">
            <a:avLst/>
          </a:prstGeom>
          <a:solidFill>
            <a:srgbClr val="F4F6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212848"/>
            <a:ext cx="73152" cy="1243584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11" name="Shape 9"/>
          <p:cNvSpPr/>
          <p:nvPr/>
        </p:nvSpPr>
        <p:spPr>
          <a:xfrm>
            <a:off x="978408" y="26060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55FB0"/>
          </a:solidFill>
          <a:ln/>
        </p:spPr>
      </p:sp>
      <p:sp>
        <p:nvSpPr>
          <p:cNvPr id="12" name="Text 10"/>
          <p:cNvSpPr/>
          <p:nvPr/>
        </p:nvSpPr>
        <p:spPr>
          <a:xfrm>
            <a:off x="978408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2212848"/>
            <a:ext cx="27889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인터페이스 우선 설계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0" y="2395728"/>
            <a:ext cx="0" cy="877824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395728"/>
            <a:ext cx="0" cy="877824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212848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ITrainerClient · IAuthService </a:t>
            </a:r>
            <a:r>
              <a:rPr lang="en-US" sz="1150" dirty="0" err="1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등으로</a:t>
            </a:r>
            <a:r>
              <a:rPr lang="en-US" sz="11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</a:t>
            </a:r>
            <a:endParaRPr lang="en-US" sz="1150" dirty="0" smtClean="0">
              <a:solidFill>
                <a:srgbClr val="6B7280"/>
              </a:solidFill>
              <a:latin typeface="Pretendard Medium" pitchFamily="34" charset="0"/>
              <a:ea typeface="Pretendard Medium" pitchFamily="34" charset="-122"/>
              <a:cs typeface="Pretendard Medium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 err="1" smtClean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하드웨어</a:t>
            </a:r>
            <a:r>
              <a:rPr lang="en-US" sz="1150" dirty="0" smtClean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</a:t>
            </a:r>
            <a:r>
              <a:rPr lang="en-US" sz="11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· 서버 · DB 의존을 추상화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95360" y="2212848"/>
            <a:ext cx="27889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장비 없이 스텁 실행 · 테스트, </a:t>
            </a:r>
            <a:endParaRPr lang="en-US" sz="1150" dirty="0" smtClean="0">
              <a:solidFill>
                <a:srgbClr val="1A1A1A"/>
              </a:solidFill>
              <a:latin typeface="Pretendard Medium" pitchFamily="34" charset="0"/>
              <a:ea typeface="Pretendard Medium" pitchFamily="34" charset="-122"/>
              <a:cs typeface="Pretendard Medium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 smtClean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XAML </a:t>
            </a:r>
            <a:r>
              <a:rPr lang="en-US" sz="115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디자이너 미리보기, 구현 교체가 쉬움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3593592"/>
            <a:ext cx="10881360" cy="1243584"/>
          </a:xfrm>
          <a:prstGeom prst="rect">
            <a:avLst/>
          </a:prstGeom>
          <a:solidFill>
            <a:srgbClr val="F4F6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3593592"/>
            <a:ext cx="73152" cy="1243584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0" name="Shape 18"/>
          <p:cNvSpPr/>
          <p:nvPr/>
        </p:nvSpPr>
        <p:spPr>
          <a:xfrm>
            <a:off x="978408" y="3986784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2E9E6B"/>
          </a:solidFill>
          <a:ln/>
        </p:spPr>
      </p:sp>
      <p:sp>
        <p:nvSpPr>
          <p:cNvPr id="21" name="Text 19"/>
          <p:cNvSpPr/>
          <p:nvPr/>
        </p:nvSpPr>
        <p:spPr>
          <a:xfrm>
            <a:off x="978408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3593592"/>
            <a:ext cx="27889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Repository → Store 2계층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54880" y="3776472"/>
            <a:ext cx="0" cy="877824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3776472"/>
            <a:ext cx="0" cy="877824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593592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원시 SQLite 접근(Repository)과 </a:t>
            </a:r>
            <a:endParaRPr lang="en-US" sz="1150" dirty="0" smtClean="0">
              <a:solidFill>
                <a:srgbClr val="6B7280"/>
              </a:solidFill>
              <a:latin typeface="Pretendard Medium" pitchFamily="34" charset="0"/>
              <a:ea typeface="Pretendard Medium" pitchFamily="34" charset="-122"/>
              <a:cs typeface="Pretendard Medium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 err="1" smtClean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캐싱</a:t>
            </a:r>
            <a:r>
              <a:rPr lang="en-US" sz="1150" dirty="0" smtClean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</a:t>
            </a:r>
            <a:r>
              <a:rPr lang="en-US" sz="11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· 변경통지 · 팬아웃(Store)을 분리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595360" y="3593592"/>
            <a:ext cx="27889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VM은 Store만 의존, </a:t>
            </a:r>
            <a:r>
              <a:rPr lang="en-US" sz="1150" dirty="0" err="1" smtClean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ActivityLogStore</a:t>
            </a:r>
            <a:r>
              <a:rPr lang="en-US" sz="1150" dirty="0" err="1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가</a:t>
            </a:r>
            <a:r>
              <a:rPr lang="en-US" sz="115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</a:t>
            </a:r>
            <a:endParaRPr lang="en-US" sz="1150" dirty="0" smtClean="0">
              <a:solidFill>
                <a:srgbClr val="1A1A1A"/>
              </a:solidFill>
              <a:latin typeface="Pretendard Medium" pitchFamily="34" charset="0"/>
              <a:ea typeface="Pretendard Medium" pitchFamily="34" charset="-122"/>
              <a:cs typeface="Pretendard Medium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 err="1" smtClean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원격</a:t>
            </a:r>
            <a:r>
              <a:rPr lang="en-US" sz="1150" dirty="0" smtClean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</a:t>
            </a:r>
            <a:r>
              <a:rPr lang="en-US" sz="115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텔레메트리까지 일관 전파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4974336"/>
            <a:ext cx="10881360" cy="1243584"/>
          </a:xfrm>
          <a:prstGeom prst="rect">
            <a:avLst/>
          </a:prstGeom>
          <a:solidFill>
            <a:srgbClr val="F4F6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" y="4974336"/>
            <a:ext cx="73152" cy="1243584"/>
          </a:xfrm>
          <a:prstGeom prst="rect">
            <a:avLst/>
          </a:prstGeom>
          <a:solidFill>
            <a:srgbClr val="E5A400"/>
          </a:solidFill>
          <a:ln/>
        </p:spPr>
      </p:sp>
      <p:sp>
        <p:nvSpPr>
          <p:cNvPr id="29" name="Shape 27"/>
          <p:cNvSpPr/>
          <p:nvPr/>
        </p:nvSpPr>
        <p:spPr>
          <a:xfrm>
            <a:off x="978408" y="536752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5A400"/>
          </a:solidFill>
          <a:ln/>
        </p:spPr>
      </p:sp>
      <p:sp>
        <p:nvSpPr>
          <p:cNvPr id="30" name="Text 28"/>
          <p:cNvSpPr/>
          <p:nvPr/>
        </p:nvSpPr>
        <p:spPr>
          <a:xfrm>
            <a:off x="978408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54480" y="4974336"/>
            <a:ext cx="27889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단일 설정 소스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754880" y="5157216"/>
            <a:ext cx="0" cy="877824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5157216"/>
            <a:ext cx="0" cy="877824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4974336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모든 임계값 · 튜닝값을 AppSettingsStore의 Default* 상수로 한 곳에 정의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595360" y="4974336"/>
            <a:ext cx="27889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위험 엔진과 설정 </a:t>
            </a:r>
            <a:r>
              <a:rPr lang="en-US" sz="1150" dirty="0" err="1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화면이</a:t>
            </a:r>
            <a:r>
              <a:rPr lang="en-US" sz="115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</a:t>
            </a:r>
            <a:endParaRPr lang="en-US" sz="1150" dirty="0" smtClean="0">
              <a:solidFill>
                <a:srgbClr val="1A1A1A"/>
              </a:solidFill>
              <a:latin typeface="Pretendard Medium" pitchFamily="34" charset="0"/>
              <a:ea typeface="Pretendard Medium" pitchFamily="34" charset="-122"/>
              <a:cs typeface="Pretendard Medium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 err="1" smtClean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같은</a:t>
            </a:r>
            <a:r>
              <a:rPr lang="en-US" sz="1150" dirty="0" smtClean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</a:t>
            </a:r>
            <a:r>
              <a:rPr lang="en-US" sz="1150" dirty="0">
                <a:solidFill>
                  <a:srgbClr val="1A1A1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소스를 공유해 값 불일치를 제거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4 · 핵심 기능 구현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하드웨어 연동 · TwinCAT ADS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ADS 포트 851로 트레이너의 아날로그·디지털 입력을 읽고 램프 출력을 씁니다. 읽기·쓰기마다 짧게 연결합니다.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847088"/>
            <a:ext cx="3291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9842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WPF 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3042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AdsSensorTrainerClient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83480" y="1847088"/>
            <a:ext cx="2240280" cy="841248"/>
          </a:xfrm>
          <a:prstGeom prst="rect">
            <a:avLst/>
          </a:prstGeom>
          <a:solidFill>
            <a:srgbClr val="155FB0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9842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TwinCAT ADS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23042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6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 851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66760" y="1847088"/>
            <a:ext cx="3200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9842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Beckhoff 트레이너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66760" y="2304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NX 아날로그·디지털 I/O 모듈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77640" y="2267712"/>
            <a:ext cx="1005840" cy="0"/>
          </a:xfrm>
          <a:prstGeom prst="line">
            <a:avLst/>
          </a:prstGeom>
          <a:noFill/>
          <a:ln w="25400">
            <a:solidFill>
              <a:srgbClr val="0F4C8C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23760" y="2267712"/>
            <a:ext cx="1143000" cy="0"/>
          </a:xfrm>
          <a:prstGeom prst="line">
            <a:avLst/>
          </a:prstGeom>
          <a:noFill/>
          <a:ln w="25400">
            <a:solidFill>
              <a:srgbClr val="0F4C8C"/>
            </a:solidFill>
            <a:prstDash val="solid"/>
            <a:headEnd type="triangl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" y="3108960"/>
            <a:ext cx="350215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108960"/>
            <a:ext cx="3502152" cy="420624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" y="3108960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GVL.NX_AD4203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968" y="363931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아날로그 입력 · 16 byte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73552" y="3621024"/>
            <a:ext cx="749808" cy="384048"/>
          </a:xfrm>
          <a:prstGeom prst="roundRect">
            <a:avLst>
              <a:gd name="adj" fmla="val 19048"/>
            </a:avLst>
          </a:prstGeom>
          <a:solidFill>
            <a:srgbClr val="F4F6F8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552" y="362102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4C8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읽기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86968" y="402336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압력·진동·온도·습도 = Int16 4채널 (offset 0·2·4·6)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70832" y="3108960"/>
            <a:ext cx="350215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70832" y="3108960"/>
            <a:ext cx="3502152" cy="420624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26" name="Text 24"/>
          <p:cNvSpPr/>
          <p:nvPr/>
        </p:nvSpPr>
        <p:spPr>
          <a:xfrm>
            <a:off x="4535424" y="3108960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GVL.NX_ID5342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363931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디지털 입력 · 비트필드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58584" y="3621024"/>
            <a:ext cx="749808" cy="384048"/>
          </a:xfrm>
          <a:prstGeom prst="roundRect">
            <a:avLst>
              <a:gd name="adj" fmla="val 19048"/>
            </a:avLst>
          </a:prstGeom>
          <a:solidFill>
            <a:srgbClr val="F4F6F8"/>
          </a:solidFill>
          <a:ln/>
        </p:spPr>
      </p:sp>
      <p:sp>
        <p:nvSpPr>
          <p:cNvPr id="29" name="Text 27"/>
          <p:cNvSpPr/>
          <p:nvPr/>
        </p:nvSpPr>
        <p:spPr>
          <a:xfrm>
            <a:off x="6958584" y="362102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4C8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읽기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0" y="402336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DI1~4 + 광·근접 센서(FOUP A·B) = 6비트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55864" y="3108960"/>
            <a:ext cx="350215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55864" y="3108960"/>
            <a:ext cx="3502152" cy="420624"/>
          </a:xfrm>
          <a:prstGeom prst="rect">
            <a:avLst/>
          </a:prstGeom>
          <a:solidFill>
            <a:srgbClr val="0F4C8C"/>
          </a:solidFill>
          <a:ln/>
        </p:spPr>
      </p:sp>
      <p:sp>
        <p:nvSpPr>
          <p:cNvPr id="33" name="Text 31"/>
          <p:cNvSpPr/>
          <p:nvPr/>
        </p:nvSpPr>
        <p:spPr>
          <a:xfrm>
            <a:off x="8220456" y="3108960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GVL.NX_OD5121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57032" y="363931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디지털 출력 · 비트필드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643616" y="3621024"/>
            <a:ext cx="749808" cy="384048"/>
          </a:xfrm>
          <a:prstGeom prst="roundRect">
            <a:avLst>
              <a:gd name="adj" fmla="val 19048"/>
            </a:avLst>
          </a:prstGeom>
          <a:solidFill>
            <a:srgbClr val="F4F6F8"/>
          </a:solidFill>
          <a:ln/>
        </p:spPr>
      </p:sp>
      <p:sp>
        <p:nvSpPr>
          <p:cNvPr id="36" name="Text 34"/>
          <p:cNvSpPr/>
          <p:nvPr/>
        </p:nvSpPr>
        <p:spPr>
          <a:xfrm>
            <a:off x="10643616" y="362102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4C8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쓰기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257032" y="402336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가동·공정·경고·AI 램프 4비트 (변경 불가 계약)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5800" y="5120640"/>
            <a:ext cx="10881360" cy="74980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" y="5120640"/>
            <a:ext cx="73152" cy="749808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40" name="Text 38"/>
          <p:cNvSpPr/>
          <p:nvPr/>
        </p:nvSpPr>
        <p:spPr>
          <a:xfrm>
            <a:off x="1024128" y="512064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55FB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설계 포인트   </a:t>
            </a:r>
            <a:r>
              <a:rPr lang="en-US" sz="12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읽기·쓰기마다 짧은 수명의 </a:t>
            </a:r>
            <a:r>
              <a:rPr lang="en-US" sz="12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TcAdsClient</a:t>
            </a:r>
            <a:r>
              <a:rPr lang="en-US" sz="12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로 연결하고, DO 비트 매핑(가동·공정·경고·AI)은 변경 불가한 하드웨어 계약으로 고정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4 · 핵심 기능 구현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센서 폴링 &amp; 보정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DispatcherTimer가 약 1Hz로 돌며 원시값을 읽어 공학값으로 환산하고, 정지(stale)를 감지한 뒤 평가·저장합니다.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1874520" cy="1024128"/>
          </a:xfrm>
          <a:prstGeom prst="rect">
            <a:avLst/>
          </a:prstGeom>
          <a:solidFill>
            <a:srgbClr val="FFFFFF"/>
          </a:solidFill>
          <a:ln w="15875">
            <a:solidFill>
              <a:srgbClr val="155FB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85900" y="1755648"/>
            <a:ext cx="274320" cy="274320"/>
          </a:xfrm>
          <a:prstGeom prst="ellipse">
            <a:avLst/>
          </a:prstGeom>
          <a:solidFill>
            <a:srgbClr val="155FB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85900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0756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타이머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3865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DispatcherTimer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1Hz 폴링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96896" y="2386584"/>
            <a:ext cx="256032" cy="0"/>
          </a:xfrm>
          <a:prstGeom prst="line">
            <a:avLst/>
          </a:prstGeom>
          <a:noFill/>
          <a:ln w="25400">
            <a:solidFill>
              <a:srgbClr val="0F4C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89504" y="1874520"/>
            <a:ext cx="1874520" cy="1024128"/>
          </a:xfrm>
          <a:prstGeom prst="rect">
            <a:avLst/>
          </a:prstGeom>
          <a:solidFill>
            <a:srgbClr val="FFFFFF"/>
          </a:solidFill>
          <a:ln w="15875">
            <a:solidFill>
              <a:srgbClr val="155FB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89604" y="1755648"/>
            <a:ext cx="274320" cy="274320"/>
          </a:xfrm>
          <a:prstGeom prst="ellipse">
            <a:avLst/>
          </a:prstGeom>
          <a:solidFill>
            <a:srgbClr val="155FB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9604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89504" y="20756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ADS 읽기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80944" y="23865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AD4203 16B→Int16×4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ID5342 비트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2386584"/>
            <a:ext cx="256032" cy="0"/>
          </a:xfrm>
          <a:prstGeom prst="line">
            <a:avLst/>
          </a:prstGeom>
          <a:noFill/>
          <a:ln w="25400">
            <a:solidFill>
              <a:srgbClr val="0F4C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93208" y="1874520"/>
            <a:ext cx="1874520" cy="1024128"/>
          </a:xfrm>
          <a:prstGeom prst="rect">
            <a:avLst/>
          </a:prstGeom>
          <a:solidFill>
            <a:srgbClr val="FFFFFF"/>
          </a:solidFill>
          <a:ln w="15875">
            <a:solidFill>
              <a:srgbClr val="155FB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93308" y="1755648"/>
            <a:ext cx="274320" cy="274320"/>
          </a:xfrm>
          <a:prstGeom prst="ellipse">
            <a:avLst/>
          </a:prstGeom>
          <a:solidFill>
            <a:srgbClr val="155FB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3308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93208" y="20756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보정·환산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84648" y="23865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선형식으로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raw → 공학값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04304" y="2386584"/>
            <a:ext cx="256032" cy="0"/>
          </a:xfrm>
          <a:prstGeom prst="line">
            <a:avLst/>
          </a:prstGeom>
          <a:noFill/>
          <a:ln w="25400">
            <a:solidFill>
              <a:srgbClr val="0F4C8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96912" y="1874520"/>
            <a:ext cx="1874520" cy="1024128"/>
          </a:xfrm>
          <a:prstGeom prst="rect">
            <a:avLst/>
          </a:prstGeom>
          <a:solidFill>
            <a:srgbClr val="FFFFFF"/>
          </a:solidFill>
          <a:ln w="15875">
            <a:solidFill>
              <a:srgbClr val="155FB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97012" y="1755648"/>
            <a:ext cx="274320" cy="274320"/>
          </a:xfrm>
          <a:prstGeom prst="ellipse">
            <a:avLst/>
          </a:prstGeom>
          <a:solidFill>
            <a:srgbClr val="155FB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7012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96912" y="20756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stale 감지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88352" y="23865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6회 연속 동일값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정지 의심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208008" y="2386584"/>
            <a:ext cx="256032" cy="0"/>
          </a:xfrm>
          <a:prstGeom prst="line">
            <a:avLst/>
          </a:prstGeom>
          <a:noFill/>
          <a:ln w="25400">
            <a:solidFill>
              <a:srgbClr val="0F4C8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500616" y="1874520"/>
            <a:ext cx="1874520" cy="1024128"/>
          </a:xfrm>
          <a:prstGeom prst="rect">
            <a:avLst/>
          </a:prstGeom>
          <a:solidFill>
            <a:srgbClr val="FFFFFF"/>
          </a:solidFill>
          <a:ln w="15875">
            <a:solidFill>
              <a:srgbClr val="155FB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300716" y="1755648"/>
            <a:ext cx="274320" cy="274320"/>
          </a:xfrm>
          <a:prstGeom prst="ellipse">
            <a:avLst/>
          </a:prstGeom>
          <a:solidFill>
            <a:srgbClr val="155FB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00716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500616" y="20756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평가·저장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592056" y="23865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평가 +</a:t>
            </a:r>
            <a:endParaRPr lang="en-US" sz="9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스냅샷·Flask 전송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5800" y="3310128"/>
            <a:ext cx="6812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5800" y="3310128"/>
            <a:ext cx="6812280" cy="4572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7" name="Text 35"/>
          <p:cNvSpPr/>
          <p:nvPr/>
        </p:nvSpPr>
        <p:spPr>
          <a:xfrm>
            <a:off x="941832" y="3310128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보정식 · 원시 Int16 → 공학값 (선형 환산)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60120" y="3986784"/>
            <a:ext cx="8229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압력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828800" y="3986784"/>
            <a:ext cx="32918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4C8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raw × 0.000161 − 0.153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212080" y="3986784"/>
            <a:ext cx="21488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60120" y="4439412"/>
            <a:ext cx="626364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0120" y="4439412"/>
            <a:ext cx="8229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진동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828800" y="4439412"/>
            <a:ext cx="32918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4C8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raw × 0.001282 + 0.051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212080" y="4439412"/>
            <a:ext cx="21488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level · 0~10 클램프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60120" y="4892040"/>
            <a:ext cx="626364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0120" y="4892040"/>
            <a:ext cx="8229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온도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828800" y="4892040"/>
            <a:ext cx="32918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4C8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raw × 0.014035 − 39.56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212080" y="4892040"/>
            <a:ext cx="21488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℃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60120" y="5344668"/>
            <a:ext cx="626364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" y="5344668"/>
            <a:ext cx="8229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습도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828800" y="5344668"/>
            <a:ext cx="32918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4C8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raw × 0.010345 + 5.793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212080" y="5344668"/>
            <a:ext cx="21488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%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818120" y="3310128"/>
            <a:ext cx="3749040" cy="1261872"/>
          </a:xfrm>
          <a:prstGeom prst="rect">
            <a:avLst/>
          </a:prstGeom>
          <a:solidFill>
            <a:srgbClr val="F4F6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818120" y="3310128"/>
            <a:ext cx="73152" cy="1261872"/>
          </a:xfrm>
          <a:prstGeom prst="rect">
            <a:avLst/>
          </a:prstGeom>
          <a:solidFill>
            <a:srgbClr val="E5A400"/>
          </a:solidFill>
          <a:ln/>
        </p:spPr>
      </p:sp>
      <p:sp>
        <p:nvSpPr>
          <p:cNvPr id="55" name="Text 53"/>
          <p:cNvSpPr/>
          <p:nvPr/>
        </p:nvSpPr>
        <p:spPr>
          <a:xfrm>
            <a:off x="8129016" y="35844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E5A4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STALE 감지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129016" y="38587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정지 의심 보류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129016" y="4261104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6회 연속 동일값이면 누적 보류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7818120" y="4700016"/>
            <a:ext cx="3749040" cy="1261872"/>
          </a:xfrm>
          <a:prstGeom prst="rect">
            <a:avLst/>
          </a:prstGeom>
          <a:solidFill>
            <a:srgbClr val="F4F6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818120" y="4700016"/>
            <a:ext cx="73152" cy="1261872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60" name="Text 58"/>
          <p:cNvSpPr/>
          <p:nvPr/>
        </p:nvSpPr>
        <p:spPr>
          <a:xfrm>
            <a:off x="8129016" y="49743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2E9E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저장 · 전송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129016" y="52486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영속화 + 텔레메트리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129016" y="565099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주기 저장 + Flask 비차단 전송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4 · 핵심 기능 구현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위험 엔진 (Risk Engine)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센서값을 임계값과 비교해 위험을 누적·판정하고,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한도 도달 시 공정을 자동으로 종료합니다.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24942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임계 평가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56032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압력·진동·온도·습도를 설정 임계값과 비교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09067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슬라이딩 윈도우 누적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40156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RiskWindowSeconds(기본 60초) 내 </a:t>
            </a:r>
            <a:endParaRPr lang="en-US" sz="1250" dirty="0" smtClean="0">
              <a:solidFill>
                <a:srgbClr val="6B728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 err="1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</a:t>
            </a:r>
            <a:r>
              <a:rPr lang="en-US" sz="1250" dirty="0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이벤트를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dirty="0" err="1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</a:t>
            </a:r>
            <a:r>
              <a:rPr lang="en-US" sz="12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·리셋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9684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93192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자동 종료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2428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누적이 한도(AutoShutdownWarningLimit) </a:t>
            </a:r>
            <a:r>
              <a:rPr lang="en-US" sz="1250" dirty="0" err="1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도달</a:t>
            </a:r>
            <a:r>
              <a:rPr lang="en-US" sz="1250" dirty="0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 err="1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</a:t>
            </a:r>
            <a:r>
              <a:rPr lang="en-US" sz="1250" dirty="0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dirty="0" err="1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정지</a:t>
            </a:r>
            <a:r>
              <a:rPr lang="en-US" sz="1250" dirty="0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+ </a:t>
            </a:r>
            <a:r>
              <a:rPr lang="en-US" sz="1250" dirty="0" err="1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</a:t>
            </a:r>
            <a:r>
              <a:rPr lang="en-US" sz="1250" dirty="0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dirty="0" err="1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램프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8097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809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77316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노이즈 방지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508406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해제 3초 디바운스 · 10초 지속마다 +1 </a:t>
            </a:r>
            <a:endParaRPr lang="en-US" sz="1250" dirty="0">
              <a:solidFill>
                <a:srgbClr val="6B728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stale 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 누적 보류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244998" y="897941"/>
            <a:ext cx="6366967" cy="4060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143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Image 0" descr="../스크린샷 2026-06-11 0930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754" y="996696"/>
            <a:ext cx="6169457" cy="3863482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304434" y="5118811"/>
            <a:ext cx="6307531" cy="5669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Shape 22"/>
          <p:cNvSpPr/>
          <p:nvPr/>
        </p:nvSpPr>
        <p:spPr>
          <a:xfrm>
            <a:off x="5244998" y="5118811"/>
            <a:ext cx="64008" cy="56692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6" name="Text 23"/>
          <p:cNvSpPr/>
          <p:nvPr/>
        </p:nvSpPr>
        <p:spPr>
          <a:xfrm>
            <a:off x="5604358" y="5118811"/>
            <a:ext cx="5864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진동 9.5 기준 초과 · 60초 내 위험 카운트 2/2</a:t>
            </a:r>
            <a:r>
              <a:rPr lang="en-US" sz="1300" dirty="0">
                <a:solidFill>
                  <a:srgbClr val="D6454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→  공정 자동 정지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4 · 핵심 기능 구현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램프 · 공정 제어 &amp; 인터락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디지털 출력 4비트로 램프를 제어하고, FOUP·권한·위험 조건으로 공정을 인터락합니다.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25877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6968" y="2020824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DO1 · bit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05256" y="2386584"/>
            <a:ext cx="164592" cy="164592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9" name="Text 7"/>
          <p:cNvSpPr/>
          <p:nvPr/>
        </p:nvSpPr>
        <p:spPr>
          <a:xfrm>
            <a:off x="1161288" y="2313432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가동 램프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6968" y="2697480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장비 가동 표시 · 펄스 출력 예약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56432" y="1874520"/>
            <a:ext cx="25877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0" y="2020824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DO2 · bit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75888" y="2386584"/>
            <a:ext cx="164592" cy="164592"/>
          </a:xfrm>
          <a:prstGeom prst="ellipse">
            <a:avLst/>
          </a:prstGeom>
          <a:solidFill>
            <a:srgbClr val="155FB0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2313432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공정 램프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2697480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진행 중 점등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27064" y="1874520"/>
            <a:ext cx="25877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28232" y="2020824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DO3 · bit 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46520" y="2386584"/>
            <a:ext cx="164592" cy="164592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9" name="Text 17"/>
          <p:cNvSpPr/>
          <p:nvPr/>
        </p:nvSpPr>
        <p:spPr>
          <a:xfrm>
            <a:off x="6702552" y="2313432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경고·위험 램프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28232" y="2697480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위험·경고 상태에서 점등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97696" y="1874520"/>
            <a:ext cx="25877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98864" y="2020824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DO4 · bit 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217152" y="2386584"/>
            <a:ext cx="164592" cy="164592"/>
          </a:xfrm>
          <a:prstGeom prst="ellipse">
            <a:avLst/>
          </a:prstGeom>
          <a:solidFill>
            <a:srgbClr val="0F4C8C"/>
          </a:solidFill>
          <a:ln/>
        </p:spPr>
      </p:sp>
      <p:sp>
        <p:nvSpPr>
          <p:cNvPr id="24" name="Text 22"/>
          <p:cNvSpPr/>
          <p:nvPr/>
        </p:nvSpPr>
        <p:spPr>
          <a:xfrm>
            <a:off x="9473184" y="2313432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제어 램프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98864" y="2697480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자동제어 동작 표시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" y="3310128"/>
            <a:ext cx="3502152" cy="1828800"/>
          </a:xfrm>
          <a:prstGeom prst="rect">
            <a:avLst/>
          </a:prstGeom>
          <a:solidFill>
            <a:srgbClr val="F4F6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" y="3310128"/>
            <a:ext cx="73152" cy="18288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8" name="Text 26"/>
          <p:cNvSpPr/>
          <p:nvPr/>
        </p:nvSpPr>
        <p:spPr>
          <a:xfrm>
            <a:off x="996696" y="3584448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FOUP A·B 게이팅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96696" y="3986784"/>
            <a:ext cx="2935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광센서 + 근접센서가 모두 ON일 때만 공정 진행. 진행 중 하나라도 해제되면 안전을 위해 자동 정지.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70832" y="3310128"/>
            <a:ext cx="3502152" cy="1828800"/>
          </a:xfrm>
          <a:prstGeom prst="rect">
            <a:avLst/>
          </a:prstGeom>
          <a:solidFill>
            <a:srgbClr val="F4F6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70832" y="3310128"/>
            <a:ext cx="73152" cy="182880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2" name="Text 30"/>
          <p:cNvSpPr/>
          <p:nvPr/>
        </p:nvSpPr>
        <p:spPr>
          <a:xfrm>
            <a:off x="4681728" y="3584448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강제 정지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81728" y="3986784"/>
            <a:ext cx="2935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한도 도달 또는 수동 명령 시 공정을 즉시 중단하고 경고·위험 램프(DO3)를 점등.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055864" y="3310128"/>
            <a:ext cx="3502152" cy="1828800"/>
          </a:xfrm>
          <a:prstGeom prst="rect">
            <a:avLst/>
          </a:prstGeom>
          <a:solidFill>
            <a:srgbClr val="F4F6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55864" y="3310128"/>
            <a:ext cx="73152" cy="18288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6" name="Text 34"/>
          <p:cNvSpPr/>
          <p:nvPr/>
        </p:nvSpPr>
        <p:spPr>
          <a:xfrm>
            <a:off x="8366760" y="3584448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권한 게이팅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66760" y="3986784"/>
            <a:ext cx="2935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 여부와 권한(Operator·Admin)에 따라 제어·설정 버튼을 활성·차단.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85800" y="5349240"/>
            <a:ext cx="10881360" cy="71323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" y="5349240"/>
            <a:ext cx="73152" cy="713232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40" name="Text 38"/>
          <p:cNvSpPr/>
          <p:nvPr/>
        </p:nvSpPr>
        <p:spPr>
          <a:xfrm>
            <a:off x="1024128" y="534924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55FB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공정 시작 조건   </a:t>
            </a:r>
            <a:r>
              <a:rPr lang="en-US" sz="12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FOUP A·B 감지 + 승인된 사용자 로그인이 모두 충족될 때만 공정을 시작할 수 있다.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4 · 핵심 기능 구현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자동제어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자동제어가 켜지면 임계를 초과한 측정값을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임계값의 95%로 보정해 공정을 유지합니다.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2494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활성화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5603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DI3(AI 시작)로 ON · AI 제어 램프(DO4) 점등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0906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초과 감지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4015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압력·진동·온도·습도가 임계를 넘는지 매 폴링 확인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9684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9319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값 보정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2428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초과 채널을 임계값의 95%로 끌어내림(ApplyAiControlCorrection)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8097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809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7731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공정 유지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508406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누적을 회피하고 공정을 계속 진행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40680" y="1920240"/>
            <a:ext cx="6172200" cy="1783080"/>
          </a:xfrm>
          <a:prstGeom prst="rect">
            <a:avLst/>
          </a:prstGeom>
          <a:solidFill>
            <a:srgbClr val="F4F6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40680" y="2240280"/>
            <a:ext cx="6172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55FB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보정값 = 임계값 × 0.95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440680" y="3017520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자동제어 ON · 임계를 초과한 채널에만 적용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40680" y="3931920"/>
            <a:ext cx="6172200" cy="1920240"/>
          </a:xfrm>
          <a:prstGeom prst="rect">
            <a:avLst/>
          </a:prstGeom>
          <a:solidFill>
            <a:srgbClr val="FBF6E8"/>
          </a:solidFill>
          <a:ln w="12700">
            <a:solidFill>
              <a:srgbClr val="E5A4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40680" y="3931920"/>
            <a:ext cx="73152" cy="1920240"/>
          </a:xfrm>
          <a:prstGeom prst="rect">
            <a:avLst/>
          </a:prstGeom>
          <a:solidFill>
            <a:srgbClr val="E5A400"/>
          </a:solidFill>
          <a:ln/>
        </p:spPr>
      </p:sp>
      <p:sp>
        <p:nvSpPr>
          <p:cNvPr id="27" name="Text 25"/>
          <p:cNvSpPr/>
          <p:nvPr/>
        </p:nvSpPr>
        <p:spPr>
          <a:xfrm>
            <a:off x="5751576" y="411480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6B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트레이너 데모용 설계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751576" y="4526280"/>
            <a:ext cx="5568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보정은 실제 안전 인터록을 대체하지 않습니다. 하드웨어 제어 한계상 인터록 우회는 학습 목적의 의도된 동작이며, 실장비 운용에는 적용하지 않습니다.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4 · 핵심 기능 구현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인증 &amp; 권한 (Flask)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Flask 백엔드로 회원가입·승인·로그인을 처리하고,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권한으로 민감한 조작을 통제합니다.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29514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회원가입 요청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60604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 시 Pending 상태로 대기(승인 전 로그인 불가)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17296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13639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승인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44728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Admin이 가입 요청을 승인·거절로 관리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0142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97764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로그인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28853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FlaskAuthService · HttpWebRequest, </a:t>
            </a:r>
            <a:r>
              <a:rPr lang="en-US" sz="1250" dirty="0" smtClean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 타임아웃(동기)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8554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855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권한 게이팅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512978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Operator·Admin 역할로 제어·설정 접근을 제한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244998" y="1207008"/>
            <a:ext cx="6366967" cy="355215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143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Image 0" descr="flask-3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754" y="1305763"/>
            <a:ext cx="6169457" cy="3354642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304434" y="4923753"/>
            <a:ext cx="6307531" cy="5669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Shape 22"/>
          <p:cNvSpPr/>
          <p:nvPr/>
        </p:nvSpPr>
        <p:spPr>
          <a:xfrm>
            <a:off x="5244998" y="4923753"/>
            <a:ext cx="64008" cy="566928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26" name="Text 23"/>
          <p:cNvSpPr/>
          <p:nvPr/>
        </p:nvSpPr>
        <p:spPr>
          <a:xfrm>
            <a:off x="5604358" y="4923753"/>
            <a:ext cx="5864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사용자</a:t>
            </a:r>
            <a:r>
              <a:rPr lang="en-US" sz="13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</a:t>
            </a:r>
            <a:r>
              <a:rPr lang="en-US" sz="1300" dirty="0" err="1" smtClean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승인</a:t>
            </a:r>
            <a:r>
              <a:rPr lang="en-US" sz="1300" dirty="0" smtClean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 </a:t>
            </a:r>
            <a:r>
              <a:rPr lang="en-US" sz="13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가입 요청 승인·거절 → 승인 시 로그인 허용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4 · 핵심 기능 구현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 &amp; 텔레메트리 (Flask)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모든 텔레메트리를 로컬 SQLite에 영속화하고,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Flask로 미러링해 원격에서 감시합니다.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29514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로컬 영속화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60604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SQLite(WAL)에 센서 스냅샷·활동 로그 기록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17296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13639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비차단 전송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44728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Flask로 fire-and-forget, ~1/초 자가 throttle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0142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97764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원격 모니터링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28853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대시보드에서 실시간 센서·로그 확인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8554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855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장비 상태 인식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512978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RUNNING·정지 등 장비 상태를 함께 전송·표시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244998" y="1207008"/>
            <a:ext cx="6366967" cy="355215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143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Image 0" descr="flask-1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754" y="1305763"/>
            <a:ext cx="6169457" cy="3354642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304434" y="4923753"/>
            <a:ext cx="6307531" cy="5669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Shape 22"/>
          <p:cNvSpPr/>
          <p:nvPr/>
        </p:nvSpPr>
        <p:spPr>
          <a:xfrm>
            <a:off x="5244998" y="4923753"/>
            <a:ext cx="64008" cy="566928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6" name="Text 23"/>
          <p:cNvSpPr/>
          <p:nvPr/>
        </p:nvSpPr>
        <p:spPr>
          <a:xfrm>
            <a:off x="5604358" y="4923753"/>
            <a:ext cx="5864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</a:t>
            </a:r>
            <a:r>
              <a:rPr lang="en-US" sz="13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</a:t>
            </a:r>
            <a:r>
              <a:rPr lang="en-US" sz="1300" dirty="0" err="1" smtClean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대시보드</a:t>
            </a:r>
            <a:r>
              <a:rPr lang="en-US" sz="1300" dirty="0" smtClean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 </a:t>
            </a:r>
            <a:r>
              <a:rPr lang="en-US" sz="1300" dirty="0" err="1" smtClean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실시간</a:t>
            </a:r>
            <a:r>
              <a:rPr lang="en-US" sz="1300" dirty="0" smtClean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</a:t>
            </a:r>
            <a:r>
              <a:rPr lang="en-US" sz="13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센서 + 장비 상태(RUNNING/정지) 원격 확인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5 · 검증 &amp; 데모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데모 ① 위험 자동 정지 시나리오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실제 실행에서 정상 운전이 경고를 거쳐 사람 개입 없이 자동 정지에 이르는 과정입니다.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3520440" cy="226611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143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app_normal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231136"/>
            <a:ext cx="3355848" cy="210152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2648" y="2002536"/>
            <a:ext cx="365760" cy="365760"/>
          </a:xfrm>
          <a:prstGeom prst="ellipse">
            <a:avLst/>
          </a:prstGeom>
          <a:solidFill>
            <a:srgbClr val="2E9E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45236" y="4542971"/>
            <a:ext cx="3461004" cy="5669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4542971"/>
            <a:ext cx="64008" cy="566928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2" name="Text 9"/>
          <p:cNvSpPr/>
          <p:nvPr/>
        </p:nvSpPr>
        <p:spPr>
          <a:xfrm>
            <a:off x="1045159" y="4542971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E9E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정상</a:t>
            </a:r>
            <a:r>
              <a:rPr lang="en-US" sz="13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 모든 센서 정상 · AI 감시 중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89120" y="2148840"/>
            <a:ext cx="3520440" cy="226611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143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1" descr="app_warn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2231136"/>
            <a:ext cx="3355848" cy="2101523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315968" y="2002536"/>
            <a:ext cx="365760" cy="365760"/>
          </a:xfrm>
          <a:prstGeom prst="ellipse">
            <a:avLst/>
          </a:prstGeom>
          <a:solidFill>
            <a:srgbClr val="E5A4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15968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448556" y="4542971"/>
            <a:ext cx="3461004" cy="5669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" name="Shape 14"/>
          <p:cNvSpPr/>
          <p:nvPr/>
        </p:nvSpPr>
        <p:spPr>
          <a:xfrm>
            <a:off x="4389120" y="4542971"/>
            <a:ext cx="64008" cy="566928"/>
          </a:xfrm>
          <a:prstGeom prst="rect">
            <a:avLst/>
          </a:prstGeom>
          <a:solidFill>
            <a:srgbClr val="E5A400"/>
          </a:solidFill>
          <a:ln/>
        </p:spPr>
      </p:sp>
      <p:sp>
        <p:nvSpPr>
          <p:cNvPr id="19" name="Text 15"/>
          <p:cNvSpPr/>
          <p:nvPr/>
        </p:nvSpPr>
        <p:spPr>
          <a:xfrm>
            <a:off x="4748479" y="4542971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A4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경고</a:t>
            </a:r>
            <a:r>
              <a:rPr lang="en-US" sz="13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 진동 9.8 초과 · 위험 1/2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092440" y="2148840"/>
            <a:ext cx="3520440" cy="226611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143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2" descr="app_danger_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2231136"/>
            <a:ext cx="3355848" cy="2101523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019288" y="2002536"/>
            <a:ext cx="365760" cy="365760"/>
          </a:xfrm>
          <a:prstGeom prst="ellipse">
            <a:avLst/>
          </a:prstGeom>
          <a:solidFill>
            <a:srgbClr val="D645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019288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8151876" y="4542971"/>
            <a:ext cx="3461004" cy="5669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Shape 20"/>
          <p:cNvSpPr/>
          <p:nvPr/>
        </p:nvSpPr>
        <p:spPr>
          <a:xfrm>
            <a:off x="8092440" y="4542971"/>
            <a:ext cx="64008" cy="56692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6" name="Text 21"/>
          <p:cNvSpPr/>
          <p:nvPr/>
        </p:nvSpPr>
        <p:spPr>
          <a:xfrm>
            <a:off x="8451799" y="4542971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454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자동 정지</a:t>
            </a:r>
            <a:r>
              <a:rPr lang="en-US" sz="13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 위험 2/2 → 공정 정지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85800" y="5285232"/>
            <a:ext cx="10881360" cy="74980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8" name="Shape 23"/>
          <p:cNvSpPr/>
          <p:nvPr/>
        </p:nvSpPr>
        <p:spPr>
          <a:xfrm>
            <a:off x="685800" y="5285232"/>
            <a:ext cx="73152" cy="74980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9" name="Text 24"/>
          <p:cNvSpPr/>
          <p:nvPr/>
        </p:nvSpPr>
        <p:spPr>
          <a:xfrm>
            <a:off x="1024128" y="5285232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D64545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검증 결과   </a:t>
            </a:r>
            <a:r>
              <a:rPr lang="en-US" sz="12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센서 위험 → 60초 윈도우 누적 → 한도(2/2) 도달 시 </a:t>
            </a:r>
            <a:r>
              <a:rPr lang="en-US" sz="12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사람 개입 없이 공정 자동 정지</a:t>
            </a:r>
            <a:r>
              <a:rPr lang="en-US" sz="12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를 실제로 확인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5 · 검증 &amp; 데모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데모 ② 원격 검증 · Flask 로그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동일한 이벤트가 로컬 SQLite와 Flask에 함께 기록되어, 장비 → 로컬 → 원격까지 끊김 없이 추적됩니다.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5349240" cy="2983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143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flask-4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414016"/>
            <a:ext cx="5184648" cy="28191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5236" y="5461768"/>
            <a:ext cx="5289804" cy="5669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5461768"/>
            <a:ext cx="64008" cy="566928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10" name="Text 7"/>
          <p:cNvSpPr/>
          <p:nvPr/>
        </p:nvSpPr>
        <p:spPr>
          <a:xfrm>
            <a:off x="1045159" y="546176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센서 로그</a:t>
            </a:r>
            <a:r>
              <a:rPr lang="en-US" sz="13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 시간별 센서값 + 위험 등급 + 장비 상태(RUNNING)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2331720"/>
            <a:ext cx="5349240" cy="2983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143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flask-2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2414016"/>
            <a:ext cx="5184648" cy="281915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23076" y="5461768"/>
            <a:ext cx="5289804" cy="5669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" name="Shape 10"/>
          <p:cNvSpPr/>
          <p:nvPr/>
        </p:nvSpPr>
        <p:spPr>
          <a:xfrm>
            <a:off x="6263640" y="5461768"/>
            <a:ext cx="64008" cy="566928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5" name="Text 11"/>
          <p:cNvSpPr/>
          <p:nvPr/>
        </p:nvSpPr>
        <p:spPr>
          <a:xfrm>
            <a:off x="6622999" y="546176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행동 로그</a:t>
            </a:r>
            <a:r>
              <a:rPr lang="en-US" sz="13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 제어·인증 이벤트를 INFO · WARN · RISK 등급으로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6 · 회고 &amp; 향후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트러블슈팅 · 회고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실제로 부딪힌 문제를 기존 동작에서 개선 동작으로 다듬었습니다.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554480" y="182880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182880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(BEFORE)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75320" y="182880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개선 (AFTER)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121408"/>
            <a:ext cx="10881360" cy="914400"/>
          </a:xfrm>
          <a:prstGeom prst="rect">
            <a:avLst/>
          </a:prstGeom>
          <a:solidFill>
            <a:srgbClr val="F4F6F8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121408"/>
            <a:ext cx="73152" cy="9144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1" name="Shape 9"/>
          <p:cNvSpPr/>
          <p:nvPr/>
        </p:nvSpPr>
        <p:spPr>
          <a:xfrm>
            <a:off x="978408" y="2386584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2E9E6B"/>
          </a:solidFill>
          <a:ln/>
        </p:spPr>
      </p:sp>
      <p:sp>
        <p:nvSpPr>
          <p:cNvPr id="12" name="Text 10"/>
          <p:cNvSpPr/>
          <p:nvPr/>
        </p:nvSpPr>
        <p:spPr>
          <a:xfrm>
            <a:off x="978408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2121408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위험 누적 노이즈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389120" y="2286000"/>
            <a:ext cx="0" cy="585216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2286000"/>
            <a:ext cx="0" cy="585216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12140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경고 깜빡임마다 중복 누적·즉시 리셋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75320" y="212140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E9E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3초 디바운스 · 10초 지속마다 +1 누적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3154680"/>
            <a:ext cx="10881360" cy="914400"/>
          </a:xfrm>
          <a:prstGeom prst="rect">
            <a:avLst/>
          </a:prstGeom>
          <a:solidFill>
            <a:srgbClr val="F4F6F8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3154680"/>
            <a:ext cx="73152" cy="9144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0" name="Shape 18"/>
          <p:cNvSpPr/>
          <p:nvPr/>
        </p:nvSpPr>
        <p:spPr>
          <a:xfrm>
            <a:off x="978408" y="3419856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2E9E6B"/>
          </a:solidFill>
          <a:ln/>
        </p:spPr>
      </p:sp>
      <p:sp>
        <p:nvSpPr>
          <p:cNvPr id="21" name="Text 19"/>
          <p:cNvSpPr/>
          <p:nvPr/>
        </p:nvSpPr>
        <p:spPr>
          <a:xfrm>
            <a:off x="978408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31546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FOUP 해제 중 공정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389120" y="3319272"/>
            <a:ext cx="0" cy="585216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1000" y="3319272"/>
            <a:ext cx="0" cy="585216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1546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FOUP A·B가 빠져도 공정이 계속 진행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75320" y="31546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E9E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진행 중 FOUP 해제 시 공정 자동 정지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4187952"/>
            <a:ext cx="10881360" cy="914400"/>
          </a:xfrm>
          <a:prstGeom prst="rect">
            <a:avLst/>
          </a:prstGeom>
          <a:solidFill>
            <a:srgbClr val="F4F6F8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" y="4187952"/>
            <a:ext cx="73152" cy="9144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9" name="Shape 27"/>
          <p:cNvSpPr/>
          <p:nvPr/>
        </p:nvSpPr>
        <p:spPr>
          <a:xfrm>
            <a:off x="978408" y="44531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2E9E6B"/>
          </a:solidFill>
          <a:ln/>
        </p:spPr>
      </p:sp>
      <p:sp>
        <p:nvSpPr>
          <p:cNvPr id="30" name="Text 28"/>
          <p:cNvSpPr/>
          <p:nvPr/>
        </p:nvSpPr>
        <p:spPr>
          <a:xfrm>
            <a:off x="978408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54480" y="4187952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인증 없는 제어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389120" y="4352544"/>
            <a:ext cx="0" cy="585216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01000" y="4352544"/>
            <a:ext cx="0" cy="585216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418795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로그인과 무관하게 장비 조작 가능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275320" y="418795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E9E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권한 게이팅 · 로그아웃 시 공정 정지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85800" y="5221224"/>
            <a:ext cx="10881360" cy="914400"/>
          </a:xfrm>
          <a:prstGeom prst="rect">
            <a:avLst/>
          </a:prstGeom>
          <a:solidFill>
            <a:srgbClr val="F4F6F8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5800" y="5221224"/>
            <a:ext cx="73152" cy="9144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38" name="Shape 36"/>
          <p:cNvSpPr/>
          <p:nvPr/>
        </p:nvSpPr>
        <p:spPr>
          <a:xfrm>
            <a:off x="978408" y="54864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2E9E6B"/>
          </a:solidFill>
          <a:ln/>
        </p:spPr>
      </p:sp>
      <p:sp>
        <p:nvSpPr>
          <p:cNvPr id="39" name="Text 37"/>
          <p:cNvSpPr/>
          <p:nvPr/>
        </p:nvSpPr>
        <p:spPr>
          <a:xfrm>
            <a:off x="9784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4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554480" y="5221224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상태 표시 혼동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4389120" y="5385816"/>
            <a:ext cx="0" cy="585216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01000" y="5385816"/>
            <a:ext cx="0" cy="585216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5221224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인증 결과와 API 연결을 한 덩어리로 표시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275320" y="5221224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E9E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인증 결과와 연결 상태를 분리 표시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6 · 회고 &amp; 향후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팀 역할분담 &amp; 협업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3인 팀이 클라이언트와 백엔드로 역할을 나눠 API 계약 기반으로 협업했습니다.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3502152" cy="2331720"/>
          </a:xfrm>
          <a:prstGeom prst="rect">
            <a:avLst/>
          </a:prstGeom>
          <a:solidFill>
            <a:srgbClr val="F4F6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148840"/>
            <a:ext cx="73152" cy="233172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8" name="Text 6"/>
          <p:cNvSpPr/>
          <p:nvPr/>
        </p:nvSpPr>
        <p:spPr>
          <a:xfrm>
            <a:off x="996696" y="242316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박재민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96696" y="2697480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클라이언트 · WPF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6696" y="3099816"/>
            <a:ext cx="2935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· 센서/위험 엔진 · TwinCAT ADS 연동 · 로컬 SQLite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70832" y="2148840"/>
            <a:ext cx="3502152" cy="2331720"/>
          </a:xfrm>
          <a:prstGeom prst="rect">
            <a:avLst/>
          </a:prstGeom>
          <a:solidFill>
            <a:srgbClr val="F4F6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70832" y="2148840"/>
            <a:ext cx="73152" cy="233172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3" name="Text 11"/>
          <p:cNvSpPr/>
          <p:nvPr/>
        </p:nvSpPr>
        <p:spPr>
          <a:xfrm>
            <a:off x="4681728" y="242316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2E9E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김길동 · 팀장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81728" y="2697480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 · Flask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81728" y="3099816"/>
            <a:ext cx="2935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· 사용자 승인 · 관리자 콘솔 화면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55864" y="2148840"/>
            <a:ext cx="3502152" cy="2331720"/>
          </a:xfrm>
          <a:prstGeom prst="rect">
            <a:avLst/>
          </a:prstGeom>
          <a:solidFill>
            <a:srgbClr val="F4F6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55864" y="2148840"/>
            <a:ext cx="73152" cy="233172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242316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2E9E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최현규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66760" y="2697480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 · Flask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66760" y="3099816"/>
            <a:ext cx="2935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텔레메트리 수신 · 센서/행동 로그 · 대시보드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4892040"/>
            <a:ext cx="1088136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4892040"/>
            <a:ext cx="73152" cy="77724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" y="4892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55FB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협업 방식   </a:t>
            </a:r>
            <a:r>
              <a:rPr lang="en-US" sz="12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Git 브랜치 기반 분업 · REST API 계약으로 클라이언트와 백엔드를 독립 개발·통합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6 · 회고 &amp; 향후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한계 &amp; 향후 개선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학습용 트레이너로서의 한계를 인지하고, 다음 단계 개선 방향을 정리했습니다.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527608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057400"/>
            <a:ext cx="5276088" cy="56692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8" name="Text 6"/>
          <p:cNvSpPr/>
          <p:nvPr/>
        </p:nvSpPr>
        <p:spPr>
          <a:xfrm>
            <a:off x="996696" y="2057400"/>
            <a:ext cx="4818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현재 한계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96696" y="2990088"/>
            <a:ext cx="118872" cy="118872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0" name="Text 8"/>
          <p:cNvSpPr/>
          <p:nvPr/>
        </p:nvSpPr>
        <p:spPr>
          <a:xfrm>
            <a:off x="1252728" y="28895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인터록 우회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데모용 · 실제 안전장치 아님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96696" y="3710178"/>
            <a:ext cx="118872" cy="118872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2" name="Text 10"/>
          <p:cNvSpPr/>
          <p:nvPr/>
        </p:nvSpPr>
        <p:spPr>
          <a:xfrm>
            <a:off x="1252728" y="360959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통신 보안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HTTP 평문 전송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96696" y="4430268"/>
            <a:ext cx="118872" cy="118872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4" name="Text 12"/>
          <p:cNvSpPr/>
          <p:nvPr/>
        </p:nvSpPr>
        <p:spPr>
          <a:xfrm>
            <a:off x="1252728" y="43296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자동화 테스트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단위·통합 테스트 부재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96696" y="5150358"/>
            <a:ext cx="118872" cy="118872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6" name="Text 14"/>
          <p:cNvSpPr/>
          <p:nvPr/>
        </p:nvSpPr>
        <p:spPr>
          <a:xfrm>
            <a:off x="1252728" y="504977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단일 장비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트레이너 1대 대상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36792" y="2057400"/>
            <a:ext cx="527608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36792" y="2057400"/>
            <a:ext cx="5276088" cy="566928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9" name="Text 17"/>
          <p:cNvSpPr/>
          <p:nvPr/>
        </p:nvSpPr>
        <p:spPr>
          <a:xfrm>
            <a:off x="6647688" y="2057400"/>
            <a:ext cx="4818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향후 개선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647688" y="2990088"/>
            <a:ext cx="118872" cy="118872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28895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보안 강화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HTTPS · 토큰 인증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47688" y="3710178"/>
            <a:ext cx="118872" cy="118872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360959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테스트 도입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위험 엔진 단위 테스트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47688" y="4430268"/>
            <a:ext cx="118872" cy="118872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43296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다중 장비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N대 동시 감시·대시보드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47688" y="5150358"/>
            <a:ext cx="118872" cy="118872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504977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임계 자동 튜닝</a:t>
            </a: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수집 데이터 기반 보정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874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9CC2F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반도체 장비 센서 제어 시스템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" y="22402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감사합니다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6E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실 장비 없이 센서 감시 · 위험 자동 대응 · 이력 · 원격 연동을 한 흐름으로 검증했습니다.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4343400"/>
            <a:ext cx="1417320" cy="402336"/>
          </a:xfrm>
          <a:prstGeom prst="roundRect">
            <a:avLst>
              <a:gd name="adj" fmla="val 18182"/>
            </a:avLst>
          </a:prstGeom>
          <a:solidFill>
            <a:srgbClr val="163255"/>
          </a:solidFill>
          <a:ln w="12700">
            <a:solidFill>
              <a:srgbClr val="2C4A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34340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FD4E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WPF · .NET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50592" y="4343400"/>
            <a:ext cx="1600200" cy="402336"/>
          </a:xfrm>
          <a:prstGeom prst="roundRect">
            <a:avLst>
              <a:gd name="adj" fmla="val 18182"/>
            </a:avLst>
          </a:prstGeom>
          <a:solidFill>
            <a:srgbClr val="163255"/>
          </a:solidFill>
          <a:ln w="12700">
            <a:solidFill>
              <a:srgbClr val="2C4A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434340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FD4E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TwinCAT ADS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15384" y="4343400"/>
            <a:ext cx="960120" cy="402336"/>
          </a:xfrm>
          <a:prstGeom prst="roundRect">
            <a:avLst>
              <a:gd name="adj" fmla="val 18182"/>
            </a:avLst>
          </a:prstGeom>
          <a:solidFill>
            <a:srgbClr val="163255"/>
          </a:solidFill>
          <a:ln w="12700">
            <a:solidFill>
              <a:srgbClr val="2C4A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15384" y="434340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FD4E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SQLite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40096" y="434340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163255"/>
          </a:solidFill>
          <a:ln w="12700">
            <a:solidFill>
              <a:srgbClr val="2C4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0096" y="434340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FD4E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Flask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5257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Q &amp; A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68680" y="5806440"/>
            <a:ext cx="10469880" cy="0"/>
          </a:xfrm>
          <a:prstGeom prst="line">
            <a:avLst/>
          </a:prstGeom>
          <a:noFill/>
          <a:ln w="12700">
            <a:solidFill>
              <a:srgbClr val="2745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897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96B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교육과정 최종 프로젝트 · 2026. 06. 18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244023" y="5897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E96B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22 / 22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부록 · APPENDIX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스코프 · 의도적으로 제외한 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센서 감시·위험 대응 트레이너에 집중하기 위해, 장비 거동 시뮬레이션은 범위에서 제외했습니다.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3502152" cy="2788920"/>
          </a:xfrm>
          <a:prstGeom prst="rect">
            <a:avLst/>
          </a:prstGeom>
          <a:solidFill>
            <a:srgbClr val="F4F6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148840"/>
            <a:ext cx="73152" cy="2788920"/>
          </a:xfrm>
          <a:prstGeom prst="rect">
            <a:avLst/>
          </a:prstGeom>
          <a:solidFill>
            <a:srgbClr val="E5A400"/>
          </a:solidFill>
          <a:ln/>
        </p:spPr>
      </p:sp>
      <p:sp>
        <p:nvSpPr>
          <p:cNvPr id="8" name="Text 6"/>
          <p:cNvSpPr/>
          <p:nvPr/>
        </p:nvSpPr>
        <p:spPr>
          <a:xfrm>
            <a:off x="996696" y="2423160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제외한 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6696" y="2825496"/>
            <a:ext cx="29352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FOUP 도킹·이송 동작, TM(이송 모듈)·PM(공정 모듈)의 실제 거동 애니메이션, 챔버 공정 진행 시각화.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0832" y="2148840"/>
            <a:ext cx="3502152" cy="2788920"/>
          </a:xfrm>
          <a:prstGeom prst="rect">
            <a:avLst/>
          </a:prstGeom>
          <a:solidFill>
            <a:srgbClr val="F4F6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2148840"/>
            <a:ext cx="73152" cy="278892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12" name="Text 10"/>
          <p:cNvSpPr/>
          <p:nvPr/>
        </p:nvSpPr>
        <p:spPr>
          <a:xfrm>
            <a:off x="4681728" y="2423160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 이유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81728" y="2825496"/>
            <a:ext cx="29352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목표는 센서 감시·위험 대응 트레이너. 장비 거동 시뮬레이션은 범위 밖이라, 복잡도와 산만함을 줄여 핵심에 집중했습니다.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55864" y="2148840"/>
            <a:ext cx="3502152" cy="2788920"/>
          </a:xfrm>
          <a:prstGeom prst="rect">
            <a:avLst/>
          </a:prstGeom>
          <a:solidFill>
            <a:srgbClr val="F4F6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55864" y="2148840"/>
            <a:ext cx="73152" cy="278892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423160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대신 한 것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2825496"/>
            <a:ext cx="29352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FOUP A·B는 광·근접 센서 인터락 신호로만 모델링하고 포트·챔버는 상태 표시 수준. 신호 기반 공정 게이팅·자동 정지는 실제로 동작합니다.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5212080"/>
            <a:ext cx="10881360" cy="71323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5212080"/>
            <a:ext cx="73152" cy="713232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20" name="Text 18"/>
          <p:cNvSpPr/>
          <p:nvPr/>
        </p:nvSpPr>
        <p:spPr>
          <a:xfrm>
            <a:off x="1024128" y="521208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55FB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한 줄 요약   </a:t>
            </a:r>
            <a:r>
              <a:rPr lang="en-US" sz="12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장비 거동 시뮬은 </a:t>
            </a:r>
            <a:r>
              <a:rPr lang="en-US" sz="1250" dirty="0" err="1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스코프</a:t>
            </a:r>
            <a:r>
              <a:rPr lang="en-US" sz="125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</a:t>
            </a:r>
            <a:r>
              <a:rPr lang="en-US" sz="1250" dirty="0" smtClean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밖</a:t>
            </a:r>
            <a:r>
              <a:rPr lang="ko-KR" altLang="en-US" sz="1250" dirty="0" smtClean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이며</a:t>
            </a:r>
            <a:r>
              <a:rPr lang="en-US" altLang="ko-KR" sz="1250" dirty="0" smtClean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,</a:t>
            </a:r>
            <a:r>
              <a:rPr lang="en-US" sz="1250" dirty="0" smtClean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</a:t>
            </a:r>
            <a:r>
              <a:rPr lang="en-US" sz="125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센서·위험·제어 신호 로직은 실제로 구현했습니다.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872423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부록 · Q&amp;A 대비 참고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2384</Words>
  <Application>Microsoft Office PowerPoint</Application>
  <PresentationFormat>와이드스크린</PresentationFormat>
  <Paragraphs>479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2" baseType="lpstr">
      <vt:lpstr>Pretendard</vt:lpstr>
      <vt:lpstr>Pretendard Black</vt:lpstr>
      <vt:lpstr>Pretendard ExtraBold</vt:lpstr>
      <vt:lpstr>Pretendard Medium</vt:lpstr>
      <vt:lpstr>Pretendard SemiBold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반도체 장비 센서 제어 시스템</dc:title>
  <dc:subject>PptxGenJS Presentation</dc:subject>
  <dc:creator>김길동, 박재민, 최현규</dc:creator>
  <cp:lastModifiedBy>User</cp:lastModifiedBy>
  <cp:revision>2</cp:revision>
  <dcterms:created xsi:type="dcterms:W3CDTF">2026-06-11T06:03:33Z</dcterms:created>
  <dcterms:modified xsi:type="dcterms:W3CDTF">2026-06-11T06:08:56Z</dcterms:modified>
</cp:coreProperties>
</file>